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Business Growth &amp; Cohort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Revenue, Retention &amp; Actionable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Revenue: ₹64.9M | Total Orders: 55,704 | Customers: 22,840</a:t>
            </a:r>
          </a:p>
          <a:p>
            <a:r>
              <a:t>Revenue growth driven by campaigns, not organic retention</a:t>
            </a:r>
          </a:p>
          <a:p>
            <a:r>
              <a:t>Retention after Month 2 drops below 8% (critical risk)</a:t>
            </a:r>
          </a:p>
          <a:p>
            <a:r>
              <a:t>Revenue heavily dependent on Mobiles &amp; Tablets</a:t>
            </a:r>
          </a:p>
          <a:p>
            <a:r>
              <a:t>High cancellations causing revenue leakage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&amp; Order Growth Over Time</a:t>
            </a:r>
          </a:p>
        </p:txBody>
      </p:sp>
      <p:pic>
        <p:nvPicPr>
          <p:cNvPr id="3" name="Picture 2" descr="Screenshot 2026-02-09 1055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3356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Average Order Value Trend</a:t>
            </a:r>
          </a:p>
        </p:txBody>
      </p:sp>
      <p:pic>
        <p:nvPicPr>
          <p:cNvPr id="3" name="Picture 2" descr="Screenshot 2026-02-09 1056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3656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Category</a:t>
            </a:r>
          </a:p>
        </p:txBody>
      </p:sp>
      <p:pic>
        <p:nvPicPr>
          <p:cNvPr id="3" name="Picture 2" descr="Screenshot 2026-02-09 1055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3742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Payment Method</a:t>
            </a:r>
          </a:p>
        </p:txBody>
      </p:sp>
      <p:pic>
        <p:nvPicPr>
          <p:cNvPr id="3" name="Picture 2" descr="Screenshot 2026-02-09 1056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3570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Region</a:t>
            </a:r>
          </a:p>
        </p:txBody>
      </p:sp>
      <p:pic>
        <p:nvPicPr>
          <p:cNvPr id="3" name="Picture 2" descr="Screenshot 2026-02-09 1056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3528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 Status Distribution</a:t>
            </a:r>
          </a:p>
        </p:txBody>
      </p:sp>
      <p:pic>
        <p:nvPicPr>
          <p:cNvPr id="3" name="Picture 2" descr="Screenshot 2026-02-09 1056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3528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Retention Cohort Analysis</a:t>
            </a:r>
          </a:p>
        </p:txBody>
      </p:sp>
      <p:pic>
        <p:nvPicPr>
          <p:cNvPr id="3" name="Picture 2" descr="Screenshot 2026-02-09 1056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3485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Contribution by Cohort</a:t>
            </a:r>
          </a:p>
        </p:txBody>
      </p:sp>
      <p:pic>
        <p:nvPicPr>
          <p:cNvPr id="3" name="Picture 2" descr="Screenshot 2026-02-09 1056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3656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Strategic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Retention is the biggest bottleneck to sustainable growth</a:t>
            </a:r>
          </a:p>
          <a:p>
            <a:r>
              <a:t>Majority of revenue comes from first purchase only</a:t>
            </a:r>
          </a:p>
          <a:p>
            <a:r>
              <a:t>High-value repeat customers exist but are unmanaged</a:t>
            </a:r>
          </a:p>
          <a:p>
            <a:r>
              <a:t>Cancellations exceed completed orders – major operational issue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Actionable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 2nd purchase conversion via post-purchase nudges</a:t>
            </a:r>
          </a:p>
          <a:p>
            <a:r>
              <a:t>Launch VIP / power-buyer program for repeat customers</a:t>
            </a:r>
          </a:p>
          <a:p>
            <a:r>
              <a:t>Reduce cancellations by incentivizing prepaid payments</a:t>
            </a:r>
          </a:p>
          <a:p>
            <a:r>
              <a:t>De-risk revenue by pushing accessories &amp; bundles</a:t>
            </a:r>
          </a:p>
          <a:p>
            <a:r>
              <a:t>Optimize regional marketing, especially West region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